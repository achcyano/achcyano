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0"/>
            <a:ext cx="11277295" cy="1371600"/>
          </a:xfrm>
          <a:prstGeom prst="rect">
            <a:avLst/>
          </a:prstGeom>
          <a:noFill/>
        </p:spPr>
        <p:txBody>
          <a:bodyPr wrap="none">
            <a:spAutoFit/>
          </a:bodyPr>
          <a:lstStyle/>
          <a:p>
            <a:pPr algn="ctr">
              <a:defRPr sz="4400" b="1">
                <a:solidFill>
                  <a:srgbClr val="006699"/>
                </a:solidFill>
              </a:defRPr>
            </a:pPr>
            <a:r>
              <a:t>2026年度院—科两级教育护士竞聘</a:t>
            </a:r>
          </a:p>
        </p:txBody>
      </p:sp>
      <p:sp>
        <p:nvSpPr>
          <p:cNvPr id="3" name="TextBox 2"/>
          <p:cNvSpPr txBox="1"/>
          <p:nvPr/>
        </p:nvSpPr>
        <p:spPr>
          <a:xfrm>
            <a:off x="457200" y="3840480"/>
            <a:ext cx="11277295" cy="731520"/>
          </a:xfrm>
          <a:prstGeom prst="rect">
            <a:avLst/>
          </a:prstGeom>
          <a:noFill/>
        </p:spPr>
        <p:txBody>
          <a:bodyPr wrap="none">
            <a:spAutoFit/>
          </a:bodyPr>
          <a:lstStyle/>
          <a:p>
            <a:pPr algn="ctr">
              <a:defRPr sz="2800">
                <a:solidFill>
                  <a:srgbClr val="008060"/>
                </a:solidFill>
              </a:defRPr>
            </a:pPr>
            <a:r>
              <a:t>以教促学，以研促教</a:t>
            </a:r>
          </a:p>
        </p:txBody>
      </p:sp>
      <p:sp>
        <p:nvSpPr>
          <p:cNvPr id="4" name="TextBox 3"/>
          <p:cNvSpPr txBox="1"/>
          <p:nvPr/>
        </p:nvSpPr>
        <p:spPr>
          <a:xfrm>
            <a:off x="457200" y="4754880"/>
            <a:ext cx="11277295" cy="1371600"/>
          </a:xfrm>
          <a:prstGeom prst="rect">
            <a:avLst/>
          </a:prstGeom>
          <a:noFill/>
        </p:spPr>
        <p:txBody>
          <a:bodyPr wrap="square">
            <a:spAutoFit/>
          </a:bodyPr>
          <a:lstStyle/>
          <a:p>
            <a:pPr algn="ctr">
              <a:defRPr sz="2400">
                <a:solidFill>
                  <a:srgbClr val="333333"/>
                </a:solidFill>
              </a:defRPr>
            </a:pPr>
            <a:r>
              <a:t>竞聘人：徐哲</a:t>
            </a:r>
          </a:p>
          <a:p>
            <a:pPr algn="ctr">
              <a:defRPr sz="2000">
                <a:solidFill>
                  <a:srgbClr val="333333"/>
                </a:solidFill>
              </a:defRPr>
            </a:pPr>
            <a:r>
              <a:t>所在科室：脑病科睡眠医学中心</a:t>
            </a:r>
          </a:p>
          <a:p>
            <a:pPr algn="ctr">
              <a:defRPr sz="2000">
                <a:solidFill>
                  <a:srgbClr val="008060"/>
                </a:solidFill>
              </a:defRPr>
            </a:pPr>
            <a:r>
              <a:t>竞聘岗位：院级教育护士 | 科级教育护士</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731520"/>
          </a:xfrm>
          <a:prstGeom prst="rect">
            <a:avLst/>
          </a:prstGeom>
          <a:noFill/>
        </p:spPr>
        <p:txBody>
          <a:bodyPr wrap="none">
            <a:spAutoFit/>
          </a:bodyPr>
          <a:lstStyle/>
          <a:p>
            <a:pPr>
              <a:defRPr sz="3200" b="1">
                <a:solidFill>
                  <a:srgbClr val="FFFFFF"/>
                </a:solidFill>
              </a:defRPr>
            </a:pPr>
            <a:r>
              <a:t>个人简介</a:t>
            </a:r>
          </a:p>
        </p:txBody>
      </p:sp>
      <p:sp>
        <p:nvSpPr>
          <p:cNvPr id="4" name="TextBox 3"/>
          <p:cNvSpPr txBox="1"/>
          <p:nvPr/>
        </p:nvSpPr>
        <p:spPr>
          <a:xfrm>
            <a:off x="640080" y="1371600"/>
            <a:ext cx="10972800" cy="5029200"/>
          </a:xfrm>
          <a:prstGeom prst="rect">
            <a:avLst/>
          </a:prstGeom>
          <a:noFill/>
        </p:spPr>
        <p:txBody>
          <a:bodyPr wrap="square">
            <a:spAutoFit/>
          </a:bodyPr>
          <a:lstStyle/>
          <a:p>
            <a:pPr>
              <a:spcBef>
                <a:spcPts val="1200"/>
              </a:spcBef>
              <a:defRPr sz="2200">
                <a:solidFill>
                  <a:srgbClr val="333333"/>
                </a:solidFill>
              </a:defRPr>
            </a:pPr>
            <a:r>
              <a:t>姓名：徐哲    性别：女    出生年月：1994年7月</a:t>
            </a:r>
          </a:p>
          <a:p>
            <a:pPr>
              <a:spcBef>
                <a:spcPts val="1200"/>
              </a:spcBef>
              <a:defRPr sz="2200">
                <a:solidFill>
                  <a:srgbClr val="333333"/>
                </a:solidFill>
              </a:defRPr>
            </a:pPr>
            <a:r>
              <a:t>政治面貌：中共党员</a:t>
            </a:r>
          </a:p>
          <a:p>
            <a:pPr>
              <a:spcBef>
                <a:spcPts val="1200"/>
              </a:spcBef>
              <a:defRPr sz="2200">
                <a:solidFill>
                  <a:srgbClr val="333333"/>
                </a:solidFill>
              </a:defRPr>
            </a:pPr>
            <a:r>
              <a:t>所在科室：脑病科睡眠医学中心</a:t>
            </a:r>
          </a:p>
          <a:p>
            <a:pPr>
              <a:spcBef>
                <a:spcPts val="1200"/>
              </a:spcBef>
              <a:defRPr sz="2200">
                <a:solidFill>
                  <a:srgbClr val="333333"/>
                </a:solidFill>
              </a:defRPr>
            </a:pPr>
            <a:r>
              <a:t>最高学历/学位：硕士研究生</a:t>
            </a:r>
          </a:p>
          <a:p>
            <a:pPr>
              <a:spcBef>
                <a:spcPts val="1200"/>
              </a:spcBef>
              <a:defRPr sz="2200">
                <a:solidFill>
                  <a:srgbClr val="333333"/>
                </a:solidFill>
              </a:defRPr>
            </a:pPr>
            <a:r>
              <a:t>毕业院校及专业：浙江中医药大学-护理学</a:t>
            </a:r>
          </a:p>
          <a:p>
            <a:pPr>
              <a:spcBef>
                <a:spcPts val="1200"/>
              </a:spcBef>
              <a:defRPr sz="2200">
                <a:solidFill>
                  <a:srgbClr val="333333"/>
                </a:solidFill>
              </a:defRPr>
            </a:pPr>
            <a:r>
              <a:t>现有专业技术职称：主管护师（2024年1月取得）</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731520"/>
          </a:xfrm>
          <a:prstGeom prst="rect">
            <a:avLst/>
          </a:prstGeom>
          <a:noFill/>
        </p:spPr>
        <p:txBody>
          <a:bodyPr wrap="none">
            <a:spAutoFit/>
          </a:bodyPr>
          <a:lstStyle/>
          <a:p>
            <a:pPr>
              <a:defRPr sz="3200" b="1">
                <a:solidFill>
                  <a:srgbClr val="FFFFFF"/>
                </a:solidFill>
              </a:defRPr>
            </a:pPr>
            <a:r>
              <a:t>工作经历概览</a:t>
            </a:r>
          </a:p>
        </p:txBody>
      </p:sp>
      <p:sp>
        <p:nvSpPr>
          <p:cNvPr id="4" name="TextBox 3"/>
          <p:cNvSpPr txBox="1"/>
          <p:nvPr/>
        </p:nvSpPr>
        <p:spPr>
          <a:xfrm>
            <a:off x="640080" y="1371600"/>
            <a:ext cx="10972800" cy="5029200"/>
          </a:xfrm>
          <a:prstGeom prst="rect">
            <a:avLst/>
          </a:prstGeom>
          <a:noFill/>
        </p:spPr>
        <p:txBody>
          <a:bodyPr wrap="square">
            <a:spAutoFit/>
          </a:bodyPr>
          <a:lstStyle/>
          <a:p>
            <a:pPr>
              <a:spcBef>
                <a:spcPts val="1200"/>
              </a:spcBef>
              <a:defRPr sz="2200">
                <a:solidFill>
                  <a:srgbClr val="333333"/>
                </a:solidFill>
              </a:defRPr>
            </a:pPr>
            <a:r>
              <a:t>临床护理工作年限：5.5年</a:t>
            </a:r>
          </a:p>
          <a:p>
            <a:pPr>
              <a:spcBef>
                <a:spcPts val="1200"/>
              </a:spcBef>
              <a:defRPr sz="2200">
                <a:solidFill>
                  <a:srgbClr val="333333"/>
                </a:solidFill>
              </a:defRPr>
            </a:pPr>
            <a:r>
              <a:t>护理教学相关经历：3年</a:t>
            </a:r>
          </a:p>
          <a:p>
            <a:pPr>
              <a:spcBef>
                <a:spcPts val="1200"/>
              </a:spcBef>
              <a:defRPr sz="2200">
                <a:solidFill>
                  <a:srgbClr val="333333"/>
                </a:solidFill>
              </a:defRPr>
            </a:pPr>
            <a:r>
              <a:t>发表论文：9篇（含中科院二区、SCI论文）</a:t>
            </a:r>
          </a:p>
          <a:p>
            <a:pPr>
              <a:spcBef>
                <a:spcPts val="1200"/>
              </a:spcBef>
              <a:defRPr sz="2200">
                <a:solidFill>
                  <a:srgbClr val="333333"/>
                </a:solidFill>
              </a:defRPr>
            </a:pPr>
            <a:r>
              <a:t>参与/主持课题：6项（含1项主持省中管局课题）</a:t>
            </a:r>
          </a:p>
          <a:p>
            <a:pPr>
              <a:spcBef>
                <a:spcPts val="1200"/>
              </a:spcBef>
              <a:defRPr sz="2200">
                <a:solidFill>
                  <a:srgbClr val="333333"/>
                </a:solidFill>
              </a:defRPr>
            </a:pPr>
            <a:r>
              <a:t>获奖荣誉：2项</a:t>
            </a:r>
          </a:p>
          <a:p>
            <a:pPr>
              <a:spcBef>
                <a:spcPts val="1200"/>
              </a:spcBef>
              <a:defRPr sz="2200">
                <a:solidFill>
                  <a:srgbClr val="333333"/>
                </a:solidFill>
              </a:defRPr>
            </a:pPr>
            <a:r>
              <a:t>专科护士带教：5年</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731520"/>
          </a:xfrm>
          <a:prstGeom prst="rect">
            <a:avLst/>
          </a:prstGeom>
          <a:noFill/>
        </p:spPr>
        <p:txBody>
          <a:bodyPr wrap="none">
            <a:spAutoFit/>
          </a:bodyPr>
          <a:lstStyle/>
          <a:p>
            <a:pPr>
              <a:defRPr sz="3200" b="1">
                <a:solidFill>
                  <a:srgbClr val="FFFFFF"/>
                </a:solidFill>
              </a:defRPr>
            </a:pPr>
            <a:r>
              <a:t>学术论文成果（一）第一作者/通讯作者</a:t>
            </a:r>
          </a:p>
        </p:txBody>
      </p:sp>
      <p:sp>
        <p:nvSpPr>
          <p:cNvPr id="4" name="TextBox 3"/>
          <p:cNvSpPr txBox="1"/>
          <p:nvPr/>
        </p:nvSpPr>
        <p:spPr>
          <a:xfrm>
            <a:off x="640080" y="1371600"/>
            <a:ext cx="10972800" cy="5029200"/>
          </a:xfrm>
          <a:prstGeom prst="rect">
            <a:avLst/>
          </a:prstGeom>
          <a:noFill/>
        </p:spPr>
        <p:txBody>
          <a:bodyPr wrap="square">
            <a:spAutoFit/>
          </a:bodyPr>
          <a:lstStyle/>
          <a:p>
            <a:pPr>
              <a:spcBef>
                <a:spcPts val="1200"/>
              </a:spcBef>
              <a:defRPr sz="2200">
                <a:solidFill>
                  <a:srgbClr val="333333"/>
                </a:solidFill>
              </a:defRPr>
            </a:pPr>
            <a:r>
              <a:t>1. 基于Pubmed数据库的2013-2018年社区康复研究热点的共词聚类分析 -- 中华现代护理杂志 2019（1/2）</a:t>
            </a:r>
          </a:p>
          <a:p>
            <a:pPr>
              <a:spcBef>
                <a:spcPts val="1200"/>
              </a:spcBef>
              <a:defRPr sz="2200">
                <a:solidFill>
                  <a:srgbClr val="333333"/>
                </a:solidFill>
              </a:defRPr>
            </a:pPr>
            <a:r>
              <a:t>2. 老年人体位性低血压的评估及非药物干预的研究进展 -- 护理管理杂志 2019（1/2）</a:t>
            </a:r>
          </a:p>
          <a:p>
            <a:pPr>
              <a:spcBef>
                <a:spcPts val="1200"/>
              </a:spcBef>
              <a:defRPr sz="2200">
                <a:solidFill>
                  <a:srgbClr val="333333"/>
                </a:solidFill>
              </a:defRPr>
            </a:pPr>
            <a:r>
              <a:t>3. 中医呼吸导引术对稳定期COPD患者肺康复效果观察 -- 浙江中医杂志 2022（1/2）</a:t>
            </a:r>
          </a:p>
          <a:p>
            <a:pPr>
              <a:spcBef>
                <a:spcPts val="1200"/>
              </a:spcBef>
              <a:defRPr sz="2200">
                <a:solidFill>
                  <a:srgbClr val="333333"/>
                </a:solidFill>
              </a:defRPr>
            </a:pPr>
            <a:r>
              <a:t>4. 中老年人睡眠时间与全因死亡风险关系的队列研究 -- 中国全科医学 2023（1/4）</a:t>
            </a:r>
          </a:p>
          <a:p>
            <a:pPr>
              <a:spcBef>
                <a:spcPts val="1200"/>
              </a:spcBef>
              <a:defRPr sz="2200">
                <a:solidFill>
                  <a:srgbClr val="333333"/>
                </a:solidFill>
              </a:defRPr>
            </a:pPr>
            <a:r>
              <a:t>5. 振腹环揉法腹部推拿辅助治疗痰热内扰型失眠症伴"胃不和"症状 -- 中医杂志 2024（通讯作者）</a:t>
            </a:r>
          </a:p>
          <a:p>
            <a:pPr>
              <a:spcBef>
                <a:spcPts val="1200"/>
              </a:spcBef>
              <a:defRPr sz="2200">
                <a:solidFill>
                  <a:srgbClr val="333333"/>
                </a:solidFill>
              </a:defRPr>
            </a:pPr>
            <a:r>
              <a:t>6. Coping styles moderate stress pathways to suicidal ideation... -- Scientific Reports (SCI) 2025（1/5）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731520"/>
          </a:xfrm>
          <a:prstGeom prst="rect">
            <a:avLst/>
          </a:prstGeom>
          <a:noFill/>
        </p:spPr>
        <p:txBody>
          <a:bodyPr wrap="none">
            <a:spAutoFit/>
          </a:bodyPr>
          <a:lstStyle/>
          <a:p>
            <a:pPr>
              <a:defRPr sz="3200" b="1">
                <a:solidFill>
                  <a:srgbClr val="FFFFFF"/>
                </a:solidFill>
              </a:defRPr>
            </a:pPr>
            <a:r>
              <a:t>学术论文成果（二）核心参与论文</a:t>
            </a:r>
          </a:p>
        </p:txBody>
      </p:sp>
      <p:sp>
        <p:nvSpPr>
          <p:cNvPr id="4" name="TextBox 3"/>
          <p:cNvSpPr txBox="1"/>
          <p:nvPr/>
        </p:nvSpPr>
        <p:spPr>
          <a:xfrm>
            <a:off x="640080" y="1371600"/>
            <a:ext cx="10972800" cy="5029200"/>
          </a:xfrm>
          <a:prstGeom prst="rect">
            <a:avLst/>
          </a:prstGeom>
          <a:noFill/>
        </p:spPr>
        <p:txBody>
          <a:bodyPr wrap="square">
            <a:spAutoFit/>
          </a:bodyPr>
          <a:lstStyle/>
          <a:p>
            <a:pPr>
              <a:spcBef>
                <a:spcPts val="1200"/>
              </a:spcBef>
              <a:defRPr sz="2200">
                <a:solidFill>
                  <a:srgbClr val="333333"/>
                </a:solidFill>
              </a:defRPr>
            </a:pPr>
            <a:r>
              <a:t>7. 癌症患者对化疗致周围神经病变体验质性研究的系统评价 -- 护理管理杂志 2020（2/4）</a:t>
            </a:r>
          </a:p>
          <a:p>
            <a:pPr>
              <a:spcBef>
                <a:spcPts val="1200"/>
              </a:spcBef>
              <a:defRPr sz="2200">
                <a:solidFill>
                  <a:srgbClr val="333333"/>
                </a:solidFill>
              </a:defRPr>
            </a:pPr>
            <a:r>
              <a:t>8. 中老年人社会参与情况及对死亡风险的影响 -- 现代预防医学 2022（2/4）</a:t>
            </a:r>
          </a:p>
          <a:p>
            <a:pPr>
              <a:spcBef>
                <a:spcPts val="1200"/>
              </a:spcBef>
              <a:defRPr sz="2200">
                <a:solidFill>
                  <a:srgbClr val="333333"/>
                </a:solidFill>
              </a:defRPr>
            </a:pPr>
            <a:r>
              <a:t>9. The Relationship Between Gut Microbiota Composition and Severity of Insomnia -- 中科院二区期刊（已录用）2025（1/5）</a:t>
            </a:r>
          </a:p>
          <a:p>
            <a:pPr>
              <a:spcBef>
                <a:spcPts val="1200"/>
              </a:spcBef>
              <a:defRPr sz="2200">
                <a:solidFill>
                  <a:srgbClr val="333333"/>
                </a:solidFill>
              </a:defRPr>
            </a:pPr>
          </a:p>
          <a:p>
            <a:pPr>
              <a:spcBef>
                <a:spcPts val="1200"/>
              </a:spcBef>
              <a:defRPr sz="2200">
                <a:solidFill>
                  <a:srgbClr val="333333"/>
                </a:solidFill>
              </a:defRPr>
            </a:pPr>
            <a:r>
              <a:t>成果亮点：覆盖睡眠医学、中医护理、老年护理、康复护理等多领域</a:t>
            </a:r>
          </a:p>
          <a:p>
            <a:pPr>
              <a:spcBef>
                <a:spcPts val="1200"/>
              </a:spcBef>
              <a:defRPr sz="2200">
                <a:solidFill>
                  <a:srgbClr val="333333"/>
                </a:solidFill>
              </a:defRPr>
            </a:pPr>
            <a:r>
              <a:t>发表SCI论文1篇，中科院二区论文已录用</a:t>
            </a:r>
          </a:p>
          <a:p>
            <a:pPr>
              <a:spcBef>
                <a:spcPts val="1200"/>
              </a:spcBef>
              <a:defRPr sz="2200">
                <a:solidFill>
                  <a:srgbClr val="333333"/>
                </a:solidFill>
              </a:defRPr>
            </a:pPr>
            <a:r>
              <a:t>通讯作者论文1篇，彰显独立科研能力</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731520"/>
          </a:xfrm>
          <a:prstGeom prst="rect">
            <a:avLst/>
          </a:prstGeom>
          <a:noFill/>
        </p:spPr>
        <p:txBody>
          <a:bodyPr wrap="none">
            <a:spAutoFit/>
          </a:bodyPr>
          <a:lstStyle/>
          <a:p>
            <a:pPr>
              <a:defRPr sz="3200" b="1">
                <a:solidFill>
                  <a:srgbClr val="FFFFFF"/>
                </a:solidFill>
              </a:defRPr>
            </a:pPr>
            <a:r>
              <a:t>科研课题</a:t>
            </a:r>
          </a:p>
        </p:txBody>
      </p:sp>
      <p:sp>
        <p:nvSpPr>
          <p:cNvPr id="4" name="TextBox 3"/>
          <p:cNvSpPr txBox="1"/>
          <p:nvPr/>
        </p:nvSpPr>
        <p:spPr>
          <a:xfrm>
            <a:off x="457200" y="1371600"/>
            <a:ext cx="5303520" cy="5029200"/>
          </a:xfrm>
          <a:prstGeom prst="rect">
            <a:avLst/>
          </a:prstGeom>
          <a:noFill/>
        </p:spPr>
        <p:txBody>
          <a:bodyPr wrap="square">
            <a:spAutoFit/>
          </a:bodyPr>
          <a:lstStyle/>
          <a:p>
            <a:pPr>
              <a:spcBef>
                <a:spcPts val="800"/>
              </a:spcBef>
              <a:defRPr sz="2000">
                <a:solidFill>
                  <a:srgbClr val="333333"/>
                </a:solidFill>
              </a:defRPr>
            </a:pPr>
            <a:r>
              <a:t>【主持课题（1项）】</a:t>
            </a:r>
          </a:p>
          <a:p>
            <a:pPr>
              <a:spcBef>
                <a:spcPts val="800"/>
              </a:spcBef>
              <a:defRPr sz="2000">
                <a:solidFill>
                  <a:srgbClr val="333333"/>
                </a:solidFill>
              </a:defRPr>
            </a:pPr>
          </a:p>
          <a:p>
            <a:pPr>
              <a:spcBef>
                <a:spcPts val="800"/>
              </a:spcBef>
              <a:defRPr sz="2000">
                <a:solidFill>
                  <a:srgbClr val="333333"/>
                </a:solidFill>
              </a:defRPr>
            </a:pPr>
            <a:r>
              <a:t>2025-2027 浙江省中管局</a:t>
            </a:r>
          </a:p>
          <a:p>
            <a:pPr>
              <a:spcBef>
                <a:spcPts val="800"/>
              </a:spcBef>
              <a:defRPr sz="2000">
                <a:solidFill>
                  <a:srgbClr val="333333"/>
                </a:solidFill>
              </a:defRPr>
            </a:pPr>
            <a:r>
              <a:t>基于"脑病耳治"思路探讨经皮耳穴迷走神经电刺激对抑郁相关失眠患者的脑功能机制研究</a:t>
            </a:r>
          </a:p>
          <a:p>
            <a:pPr>
              <a:spcBef>
                <a:spcPts val="800"/>
              </a:spcBef>
              <a:defRPr sz="2000">
                <a:solidFill>
                  <a:srgbClr val="333333"/>
                </a:solidFill>
              </a:defRPr>
            </a:pPr>
            <a:r>
              <a:t>项目编号：2025ZR166</a:t>
            </a:r>
          </a:p>
          <a:p>
            <a:pPr>
              <a:spcBef>
                <a:spcPts val="800"/>
              </a:spcBef>
              <a:defRPr sz="2000">
                <a:solidFill>
                  <a:srgbClr val="333333"/>
                </a:solidFill>
              </a:defRPr>
            </a:pPr>
            <a:r>
              <a:t>角色：主持（1/7）</a:t>
            </a:r>
          </a:p>
        </p:txBody>
      </p:sp>
      <p:sp>
        <p:nvSpPr>
          <p:cNvPr id="5" name="TextBox 4"/>
          <p:cNvSpPr txBox="1"/>
          <p:nvPr/>
        </p:nvSpPr>
        <p:spPr>
          <a:xfrm>
            <a:off x="6217920" y="1371600"/>
            <a:ext cx="5303520" cy="5029200"/>
          </a:xfrm>
          <a:prstGeom prst="rect">
            <a:avLst/>
          </a:prstGeom>
          <a:noFill/>
        </p:spPr>
        <p:txBody>
          <a:bodyPr wrap="square">
            <a:spAutoFit/>
          </a:bodyPr>
          <a:lstStyle/>
          <a:p>
            <a:pPr>
              <a:spcBef>
                <a:spcPts val="800"/>
              </a:spcBef>
              <a:defRPr sz="2000">
                <a:solidFill>
                  <a:srgbClr val="333333"/>
                </a:solidFill>
              </a:defRPr>
            </a:pPr>
            <a:r>
              <a:t>【参与课题（5项）】</a:t>
            </a:r>
          </a:p>
          <a:p>
            <a:pPr>
              <a:spcBef>
                <a:spcPts val="800"/>
              </a:spcBef>
              <a:defRPr sz="2000">
                <a:solidFill>
                  <a:srgbClr val="333333"/>
                </a:solidFill>
              </a:defRPr>
            </a:pPr>
          </a:p>
          <a:p>
            <a:pPr>
              <a:spcBef>
                <a:spcPts val="800"/>
              </a:spcBef>
              <a:defRPr sz="2000">
                <a:solidFill>
                  <a:srgbClr val="333333"/>
                </a:solidFill>
              </a:defRPr>
            </a:pPr>
            <a:r>
              <a:t>2019-2021 浙江省中管局 COPD慢病管理研究（2/7）</a:t>
            </a:r>
          </a:p>
          <a:p>
            <a:pPr>
              <a:spcBef>
                <a:spcPts val="800"/>
              </a:spcBef>
              <a:defRPr sz="2000">
                <a:solidFill>
                  <a:srgbClr val="333333"/>
                </a:solidFill>
              </a:defRPr>
            </a:pPr>
            <a:r>
              <a:t>2021-2024 浙江省教育厅 中老年人社会参与研究（2/7）</a:t>
            </a:r>
          </a:p>
          <a:p>
            <a:pPr>
              <a:spcBef>
                <a:spcPts val="800"/>
              </a:spcBef>
              <a:defRPr sz="2000">
                <a:solidFill>
                  <a:srgbClr val="333333"/>
                </a:solidFill>
              </a:defRPr>
            </a:pPr>
            <a:r>
              <a:t>2022-2025 浙江省卫生厅 青少年抑郁研究（2/7）</a:t>
            </a:r>
          </a:p>
          <a:p>
            <a:pPr>
              <a:spcBef>
                <a:spcPts val="800"/>
              </a:spcBef>
              <a:defRPr sz="2000">
                <a:solidFill>
                  <a:srgbClr val="333333"/>
                </a:solidFill>
              </a:defRPr>
            </a:pPr>
            <a:r>
              <a:t>2022-2025 浙江省中管局 腹部推拿研究（2/7）</a:t>
            </a:r>
          </a:p>
          <a:p>
            <a:pPr>
              <a:spcBef>
                <a:spcPts val="800"/>
              </a:spcBef>
              <a:defRPr sz="2000">
                <a:solidFill>
                  <a:srgbClr val="333333"/>
                </a:solidFill>
              </a:defRPr>
            </a:pPr>
            <a:r>
              <a:t>2024-2026 浙江省中管局 变应性鼻炎研究（2/7）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731520"/>
          </a:xfrm>
          <a:prstGeom prst="rect">
            <a:avLst/>
          </a:prstGeom>
          <a:noFill/>
        </p:spPr>
        <p:txBody>
          <a:bodyPr wrap="none">
            <a:spAutoFit/>
          </a:bodyPr>
          <a:lstStyle/>
          <a:p>
            <a:pPr>
              <a:defRPr sz="3200" b="1">
                <a:solidFill>
                  <a:srgbClr val="FFFFFF"/>
                </a:solidFill>
              </a:defRPr>
            </a:pPr>
            <a:r>
              <a:t>获奖与带教成果</a:t>
            </a:r>
          </a:p>
        </p:txBody>
      </p:sp>
      <p:sp>
        <p:nvSpPr>
          <p:cNvPr id="4" name="TextBox 3"/>
          <p:cNvSpPr txBox="1"/>
          <p:nvPr/>
        </p:nvSpPr>
        <p:spPr>
          <a:xfrm>
            <a:off x="457200" y="1371600"/>
            <a:ext cx="5303520" cy="5029200"/>
          </a:xfrm>
          <a:prstGeom prst="rect">
            <a:avLst/>
          </a:prstGeom>
          <a:noFill/>
        </p:spPr>
        <p:txBody>
          <a:bodyPr wrap="square">
            <a:spAutoFit/>
          </a:bodyPr>
          <a:lstStyle/>
          <a:p>
            <a:pPr>
              <a:spcBef>
                <a:spcPts val="800"/>
              </a:spcBef>
              <a:defRPr sz="2000">
                <a:solidFill>
                  <a:srgbClr val="333333"/>
                </a:solidFill>
              </a:defRPr>
            </a:pPr>
            <a:r>
              <a:t>【获奖荣誉】</a:t>
            </a:r>
          </a:p>
          <a:p>
            <a:pPr>
              <a:spcBef>
                <a:spcPts val="800"/>
              </a:spcBef>
              <a:defRPr sz="2000">
                <a:solidFill>
                  <a:srgbClr val="333333"/>
                </a:solidFill>
              </a:defRPr>
            </a:pPr>
          </a:p>
          <a:p>
            <a:pPr>
              <a:spcBef>
                <a:spcPts val="800"/>
              </a:spcBef>
              <a:defRPr sz="2000">
                <a:solidFill>
                  <a:srgbClr val="333333"/>
                </a:solidFill>
              </a:defRPr>
            </a:pPr>
            <a:r>
              <a:t>2023年 杭州市中医院</a:t>
            </a:r>
          </a:p>
          <a:p>
            <a:pPr>
              <a:spcBef>
                <a:spcPts val="800"/>
              </a:spcBef>
              <a:defRPr sz="2000">
                <a:solidFill>
                  <a:srgbClr val="333333"/>
                </a:solidFill>
              </a:defRPr>
            </a:pPr>
            <a:r>
              <a:t>第一届护理科研优培班优秀论文</a:t>
            </a:r>
          </a:p>
          <a:p>
            <a:pPr>
              <a:spcBef>
                <a:spcPts val="800"/>
              </a:spcBef>
              <a:defRPr sz="2000">
                <a:solidFill>
                  <a:srgbClr val="333333"/>
                </a:solidFill>
              </a:defRPr>
            </a:pPr>
            <a:r>
              <a:t>二等奖</a:t>
            </a:r>
          </a:p>
          <a:p>
            <a:pPr>
              <a:spcBef>
                <a:spcPts val="800"/>
              </a:spcBef>
              <a:defRPr sz="2000">
                <a:solidFill>
                  <a:srgbClr val="333333"/>
                </a:solidFill>
              </a:defRPr>
            </a:pPr>
          </a:p>
          <a:p>
            <a:pPr>
              <a:spcBef>
                <a:spcPts val="800"/>
              </a:spcBef>
              <a:defRPr sz="2000">
                <a:solidFill>
                  <a:srgbClr val="333333"/>
                </a:solidFill>
              </a:defRPr>
            </a:pPr>
            <a:r>
              <a:t>2023年 杭州市中医院</a:t>
            </a:r>
          </a:p>
          <a:p>
            <a:pPr>
              <a:spcBef>
                <a:spcPts val="800"/>
              </a:spcBef>
              <a:defRPr sz="2000">
                <a:solidFill>
                  <a:srgbClr val="333333"/>
                </a:solidFill>
              </a:defRPr>
            </a:pPr>
            <a:r>
              <a:t>护理优秀研究生教学案例比赛</a:t>
            </a:r>
          </a:p>
          <a:p>
            <a:pPr>
              <a:spcBef>
                <a:spcPts val="800"/>
              </a:spcBef>
              <a:defRPr sz="2000">
                <a:solidFill>
                  <a:srgbClr val="333333"/>
                </a:solidFill>
              </a:defRPr>
            </a:pPr>
            <a:r>
              <a:t>二等奖</a:t>
            </a:r>
          </a:p>
        </p:txBody>
      </p:sp>
      <p:sp>
        <p:nvSpPr>
          <p:cNvPr id="5" name="TextBox 4"/>
          <p:cNvSpPr txBox="1"/>
          <p:nvPr/>
        </p:nvSpPr>
        <p:spPr>
          <a:xfrm>
            <a:off x="6217920" y="1371600"/>
            <a:ext cx="5303520" cy="5029200"/>
          </a:xfrm>
          <a:prstGeom prst="rect">
            <a:avLst/>
          </a:prstGeom>
          <a:noFill/>
        </p:spPr>
        <p:txBody>
          <a:bodyPr wrap="square">
            <a:spAutoFit/>
          </a:bodyPr>
          <a:lstStyle/>
          <a:p>
            <a:pPr>
              <a:spcBef>
                <a:spcPts val="800"/>
              </a:spcBef>
              <a:defRPr sz="2000">
                <a:solidFill>
                  <a:srgbClr val="333333"/>
                </a:solidFill>
              </a:defRPr>
            </a:pPr>
            <a:r>
              <a:t>【专科护士带教成果】</a:t>
            </a:r>
          </a:p>
          <a:p>
            <a:pPr>
              <a:spcBef>
                <a:spcPts val="800"/>
              </a:spcBef>
              <a:defRPr sz="2000">
                <a:solidFill>
                  <a:srgbClr val="333333"/>
                </a:solidFill>
              </a:defRPr>
            </a:pPr>
          </a:p>
          <a:p>
            <a:pPr>
              <a:spcBef>
                <a:spcPts val="800"/>
              </a:spcBef>
              <a:defRPr sz="2000">
                <a:solidFill>
                  <a:srgbClr val="333333"/>
                </a:solidFill>
              </a:defRPr>
            </a:pPr>
            <a:r>
              <a:t>参与浙江省康复专科护士带教工作 5年</a:t>
            </a:r>
          </a:p>
          <a:p>
            <a:pPr>
              <a:spcBef>
                <a:spcPts val="800"/>
              </a:spcBef>
              <a:defRPr sz="2000">
                <a:solidFill>
                  <a:srgbClr val="333333"/>
                </a:solidFill>
              </a:defRPr>
            </a:pPr>
          </a:p>
          <a:p>
            <a:pPr>
              <a:spcBef>
                <a:spcPts val="800"/>
              </a:spcBef>
              <a:defRPr sz="2000">
                <a:solidFill>
                  <a:srgbClr val="333333"/>
                </a:solidFill>
              </a:defRPr>
            </a:pPr>
            <a:r>
              <a:t>参与浙江省中西医结合专科护士带教工作 5年</a:t>
            </a:r>
          </a:p>
          <a:p>
            <a:pPr>
              <a:spcBef>
                <a:spcPts val="800"/>
              </a:spcBef>
              <a:defRPr sz="2000">
                <a:solidFill>
                  <a:srgbClr val="333333"/>
                </a:solidFill>
              </a:defRPr>
            </a:pPr>
          </a:p>
          <a:p>
            <a:pPr>
              <a:spcBef>
                <a:spcPts val="800"/>
              </a:spcBef>
              <a:defRPr sz="2000">
                <a:solidFill>
                  <a:srgbClr val="333333"/>
                </a:solidFill>
              </a:defRPr>
            </a:pPr>
            <a:r>
              <a:t>帮助专科护士立项课题 3项</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731520"/>
          </a:xfrm>
          <a:prstGeom prst="rect">
            <a:avLst/>
          </a:prstGeom>
          <a:noFill/>
        </p:spPr>
        <p:txBody>
          <a:bodyPr wrap="none">
            <a:spAutoFit/>
          </a:bodyPr>
          <a:lstStyle/>
          <a:p>
            <a:pPr>
              <a:defRPr sz="3200" b="1">
                <a:solidFill>
                  <a:srgbClr val="FFFFFF"/>
                </a:solidFill>
              </a:defRPr>
            </a:pPr>
            <a:r>
              <a:t>对教育护士岗位的认知</a:t>
            </a:r>
          </a:p>
        </p:txBody>
      </p:sp>
      <p:sp>
        <p:nvSpPr>
          <p:cNvPr id="4" name="TextBox 3"/>
          <p:cNvSpPr txBox="1"/>
          <p:nvPr/>
        </p:nvSpPr>
        <p:spPr>
          <a:xfrm>
            <a:off x="640080" y="1371600"/>
            <a:ext cx="10972800" cy="5029200"/>
          </a:xfrm>
          <a:prstGeom prst="rect">
            <a:avLst/>
          </a:prstGeom>
          <a:noFill/>
        </p:spPr>
        <p:txBody>
          <a:bodyPr wrap="square">
            <a:spAutoFit/>
          </a:bodyPr>
          <a:lstStyle/>
          <a:p>
            <a:pPr>
              <a:spcBef>
                <a:spcPts val="1200"/>
              </a:spcBef>
              <a:defRPr sz="2200">
                <a:solidFill>
                  <a:srgbClr val="333333"/>
                </a:solidFill>
              </a:defRPr>
            </a:pPr>
            <a:r>
              <a:t>【角色定位】</a:t>
            </a:r>
          </a:p>
          <a:p>
            <a:pPr>
              <a:spcBef>
                <a:spcPts val="1200"/>
              </a:spcBef>
              <a:defRPr sz="2200">
                <a:solidFill>
                  <a:srgbClr val="333333"/>
                </a:solidFill>
              </a:defRPr>
            </a:pPr>
            <a:r>
              <a:t>教育护士是连接临床护理与教学科研的桥梁与纽带</a:t>
            </a:r>
          </a:p>
          <a:p>
            <a:pPr>
              <a:spcBef>
                <a:spcPts val="1200"/>
              </a:spcBef>
              <a:defRPr sz="2200">
                <a:solidFill>
                  <a:srgbClr val="333333"/>
                </a:solidFill>
              </a:defRPr>
            </a:pPr>
          </a:p>
          <a:p>
            <a:pPr>
              <a:spcBef>
                <a:spcPts val="1200"/>
              </a:spcBef>
              <a:defRPr sz="2200">
                <a:solidFill>
                  <a:srgbClr val="333333"/>
                </a:solidFill>
              </a:defRPr>
            </a:pPr>
            <a:r>
              <a:t>【核心认知】</a:t>
            </a:r>
          </a:p>
          <a:p>
            <a:pPr>
              <a:spcBef>
                <a:spcPts val="1200"/>
              </a:spcBef>
              <a:defRPr sz="2200">
                <a:solidFill>
                  <a:srgbClr val="333333"/>
                </a:solidFill>
              </a:defRPr>
            </a:pPr>
            <a:r>
              <a:t>护理教学不止于基础操作，更应聚焦"中西医结合护理思维"的培养</a:t>
            </a:r>
          </a:p>
          <a:p>
            <a:pPr>
              <a:spcBef>
                <a:spcPts val="1200"/>
              </a:spcBef>
              <a:defRPr sz="2200">
                <a:solidFill>
                  <a:srgbClr val="333333"/>
                </a:solidFill>
              </a:defRPr>
            </a:pPr>
          </a:p>
          <a:p>
            <a:pPr>
              <a:spcBef>
                <a:spcPts val="1200"/>
              </a:spcBef>
              <a:defRPr sz="2200">
                <a:solidFill>
                  <a:srgbClr val="333333"/>
                </a:solidFill>
              </a:defRPr>
            </a:pPr>
            <a:r>
              <a:t>【优秀教育护士的三大能力】</a:t>
            </a:r>
          </a:p>
          <a:p>
            <a:pPr>
              <a:spcBef>
                <a:spcPts val="1200"/>
              </a:spcBef>
              <a:defRPr sz="2200">
                <a:solidFill>
                  <a:srgbClr val="333333"/>
                </a:solidFill>
              </a:defRPr>
            </a:pPr>
            <a:r>
              <a:t>敏锐的临床洞察力</a:t>
            </a:r>
          </a:p>
          <a:p>
            <a:pPr>
              <a:spcBef>
                <a:spcPts val="1200"/>
              </a:spcBef>
              <a:defRPr sz="2200">
                <a:solidFill>
                  <a:srgbClr val="333333"/>
                </a:solidFill>
              </a:defRPr>
            </a:pPr>
            <a:r>
              <a:t>扎实的循证护理能力</a:t>
            </a:r>
          </a:p>
          <a:p>
            <a:pPr>
              <a:spcBef>
                <a:spcPts val="1200"/>
              </a:spcBef>
              <a:defRPr sz="2200">
                <a:solidFill>
                  <a:srgbClr val="333333"/>
                </a:solidFill>
              </a:defRPr>
            </a:pPr>
            <a:r>
              <a:t>系统的教学设计能力</a:t>
            </a:r>
          </a:p>
          <a:p>
            <a:pPr>
              <a:spcBef>
                <a:spcPts val="1200"/>
              </a:spcBef>
              <a:defRPr sz="2200">
                <a:solidFill>
                  <a:srgbClr val="333333"/>
                </a:solidFill>
              </a:defRPr>
            </a:pPr>
          </a:p>
          <a:p>
            <a:pPr>
              <a:spcBef>
                <a:spcPts val="1200"/>
              </a:spcBef>
              <a:defRPr sz="2200">
                <a:solidFill>
                  <a:srgbClr val="333333"/>
                </a:solidFill>
              </a:defRPr>
            </a:pPr>
            <a:r>
              <a:t>【教学目标】以教促学，以研促教</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731520"/>
          </a:xfrm>
          <a:prstGeom prst="rect">
            <a:avLst/>
          </a:prstGeom>
          <a:noFill/>
        </p:spPr>
        <p:txBody>
          <a:bodyPr wrap="none">
            <a:spAutoFit/>
          </a:bodyPr>
          <a:lstStyle/>
          <a:p>
            <a:pPr>
              <a:defRPr sz="3200" b="1">
                <a:solidFill>
                  <a:srgbClr val="FFFFFF"/>
                </a:solidFill>
              </a:defRPr>
            </a:pPr>
            <a:r>
              <a:t>我的竞聘优势</a:t>
            </a:r>
          </a:p>
        </p:txBody>
      </p:sp>
      <p:sp>
        <p:nvSpPr>
          <p:cNvPr id="4" name="TextBox 3"/>
          <p:cNvSpPr txBox="1"/>
          <p:nvPr/>
        </p:nvSpPr>
        <p:spPr>
          <a:xfrm>
            <a:off x="457200" y="1371600"/>
            <a:ext cx="5303520" cy="5029200"/>
          </a:xfrm>
          <a:prstGeom prst="rect">
            <a:avLst/>
          </a:prstGeom>
          <a:noFill/>
        </p:spPr>
        <p:txBody>
          <a:bodyPr wrap="square">
            <a:spAutoFit/>
          </a:bodyPr>
          <a:lstStyle/>
          <a:p>
            <a:pPr>
              <a:spcBef>
                <a:spcPts val="800"/>
              </a:spcBef>
              <a:defRPr sz="2000">
                <a:solidFill>
                  <a:srgbClr val="333333"/>
                </a:solidFill>
              </a:defRPr>
            </a:pPr>
            <a:r>
              <a:t>【优势一：扎实的学历与专业背景】</a:t>
            </a:r>
          </a:p>
          <a:p>
            <a:pPr>
              <a:spcBef>
                <a:spcPts val="800"/>
              </a:spcBef>
              <a:defRPr sz="2000">
                <a:solidFill>
                  <a:srgbClr val="333333"/>
                </a:solidFill>
              </a:defRPr>
            </a:pPr>
            <a:r>
              <a:t>硕士研究生学历</a:t>
            </a:r>
          </a:p>
          <a:p>
            <a:pPr>
              <a:spcBef>
                <a:spcPts val="800"/>
              </a:spcBef>
              <a:defRPr sz="2000">
                <a:solidFill>
                  <a:srgbClr val="333333"/>
                </a:solidFill>
              </a:defRPr>
            </a:pPr>
            <a:r>
              <a:t>浙江中医药大学护理学专业</a:t>
            </a:r>
          </a:p>
          <a:p>
            <a:pPr>
              <a:spcBef>
                <a:spcPts val="800"/>
              </a:spcBef>
              <a:defRPr sz="2000">
                <a:solidFill>
                  <a:srgbClr val="333333"/>
                </a:solidFill>
              </a:defRPr>
            </a:pPr>
            <a:r>
              <a:t>系统接受科研方法学训练</a:t>
            </a:r>
          </a:p>
          <a:p>
            <a:pPr>
              <a:spcBef>
                <a:spcPts val="800"/>
              </a:spcBef>
              <a:defRPr sz="2000">
                <a:solidFill>
                  <a:srgbClr val="333333"/>
                </a:solidFill>
              </a:defRPr>
            </a:pPr>
          </a:p>
          <a:p>
            <a:pPr>
              <a:spcBef>
                <a:spcPts val="800"/>
              </a:spcBef>
              <a:defRPr sz="2000">
                <a:solidFill>
                  <a:srgbClr val="333333"/>
                </a:solidFill>
              </a:defRPr>
            </a:pPr>
            <a:r>
              <a:t>【优势二：丰富的科研经历】</a:t>
            </a:r>
          </a:p>
          <a:p>
            <a:pPr>
              <a:spcBef>
                <a:spcPts val="800"/>
              </a:spcBef>
              <a:defRPr sz="2000">
                <a:solidFill>
                  <a:srgbClr val="333333"/>
                </a:solidFill>
              </a:defRPr>
            </a:pPr>
            <a:r>
              <a:t>主持省级课题1项</a:t>
            </a:r>
          </a:p>
          <a:p>
            <a:pPr>
              <a:spcBef>
                <a:spcPts val="800"/>
              </a:spcBef>
              <a:defRPr sz="2000">
                <a:solidFill>
                  <a:srgbClr val="333333"/>
                </a:solidFill>
              </a:defRPr>
            </a:pPr>
            <a:r>
              <a:t>参与省级课题5项</a:t>
            </a:r>
          </a:p>
          <a:p>
            <a:pPr>
              <a:spcBef>
                <a:spcPts val="800"/>
              </a:spcBef>
              <a:defRPr sz="2000">
                <a:solidFill>
                  <a:srgbClr val="333333"/>
                </a:solidFill>
              </a:defRPr>
            </a:pPr>
            <a:r>
              <a:t>发表论文9篇（含SCI、通讯作者）</a:t>
            </a:r>
          </a:p>
        </p:txBody>
      </p:sp>
      <p:sp>
        <p:nvSpPr>
          <p:cNvPr id="5" name="TextBox 4"/>
          <p:cNvSpPr txBox="1"/>
          <p:nvPr/>
        </p:nvSpPr>
        <p:spPr>
          <a:xfrm>
            <a:off x="6217920" y="1371600"/>
            <a:ext cx="5303520" cy="5029200"/>
          </a:xfrm>
          <a:prstGeom prst="rect">
            <a:avLst/>
          </a:prstGeom>
          <a:noFill/>
        </p:spPr>
        <p:txBody>
          <a:bodyPr wrap="square">
            <a:spAutoFit/>
          </a:bodyPr>
          <a:lstStyle/>
          <a:p>
            <a:pPr>
              <a:spcBef>
                <a:spcPts val="800"/>
              </a:spcBef>
              <a:defRPr sz="2000">
                <a:solidFill>
                  <a:srgbClr val="333333"/>
                </a:solidFill>
              </a:defRPr>
            </a:pPr>
            <a:r>
              <a:t>【优势三：深耕专科领域】</a:t>
            </a:r>
          </a:p>
          <a:p>
            <a:pPr>
              <a:spcBef>
                <a:spcPts val="800"/>
              </a:spcBef>
              <a:defRPr sz="2000">
                <a:solidFill>
                  <a:srgbClr val="333333"/>
                </a:solidFill>
              </a:defRPr>
            </a:pPr>
            <a:r>
              <a:t>5年专科护士带教经验</a:t>
            </a:r>
          </a:p>
          <a:p>
            <a:pPr>
              <a:spcBef>
                <a:spcPts val="800"/>
              </a:spcBef>
              <a:defRPr sz="2000">
                <a:solidFill>
                  <a:srgbClr val="333333"/>
                </a:solidFill>
              </a:defRPr>
            </a:pPr>
            <a:r>
              <a:t>熟悉康复、中西医结合专科护理教学</a:t>
            </a:r>
          </a:p>
          <a:p>
            <a:pPr>
              <a:spcBef>
                <a:spcPts val="800"/>
              </a:spcBef>
              <a:defRPr sz="2000">
                <a:solidFill>
                  <a:srgbClr val="333333"/>
                </a:solidFill>
              </a:defRPr>
            </a:pPr>
            <a:r>
              <a:t>帮助学员立项课题3项</a:t>
            </a:r>
          </a:p>
          <a:p>
            <a:pPr>
              <a:spcBef>
                <a:spcPts val="800"/>
              </a:spcBef>
              <a:defRPr sz="2000">
                <a:solidFill>
                  <a:srgbClr val="333333"/>
                </a:solidFill>
              </a:defRPr>
            </a:pPr>
          </a:p>
          <a:p>
            <a:pPr>
              <a:spcBef>
                <a:spcPts val="800"/>
              </a:spcBef>
              <a:defRPr sz="2000">
                <a:solidFill>
                  <a:srgbClr val="333333"/>
                </a:solidFill>
              </a:defRPr>
            </a:pPr>
            <a:r>
              <a:t>【优势四：中医护理特色优势】</a:t>
            </a:r>
          </a:p>
          <a:p>
            <a:pPr>
              <a:spcBef>
                <a:spcPts val="800"/>
              </a:spcBef>
              <a:defRPr sz="2000">
                <a:solidFill>
                  <a:srgbClr val="333333"/>
                </a:solidFill>
              </a:defRPr>
            </a:pPr>
            <a:r>
              <a:t>深入研究"肠-脑轴"及中医外治法</a:t>
            </a:r>
          </a:p>
          <a:p>
            <a:pPr>
              <a:spcBef>
                <a:spcPts val="800"/>
              </a:spcBef>
              <a:defRPr sz="2000">
                <a:solidFill>
                  <a:srgbClr val="333333"/>
                </a:solidFill>
              </a:defRPr>
            </a:pPr>
            <a:r>
              <a:t>主持"脑病耳治"相关课题研究</a:t>
            </a:r>
          </a:p>
          <a:p>
            <a:pPr>
              <a:spcBef>
                <a:spcPts val="800"/>
              </a:spcBef>
              <a:defRPr sz="2000">
                <a:solidFill>
                  <a:srgbClr val="333333"/>
                </a:solidFill>
              </a:defRPr>
            </a:pPr>
            <a:r>
              <a:t>具备编写特色教材的理论与实践基础</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731520"/>
          </a:xfrm>
          <a:prstGeom prst="rect">
            <a:avLst/>
          </a:prstGeom>
          <a:noFill/>
        </p:spPr>
        <p:txBody>
          <a:bodyPr wrap="none">
            <a:spAutoFit/>
          </a:bodyPr>
          <a:lstStyle/>
          <a:p>
            <a:pPr>
              <a:defRPr sz="3200" b="1">
                <a:solidFill>
                  <a:srgbClr val="FFFFFF"/>
                </a:solidFill>
              </a:defRPr>
            </a:pPr>
            <a:r>
              <a:t>履职设想总览</a:t>
            </a:r>
          </a:p>
        </p:txBody>
      </p:sp>
      <p:sp>
        <p:nvSpPr>
          <p:cNvPr id="4" name="TextBox 3"/>
          <p:cNvSpPr txBox="1"/>
          <p:nvPr/>
        </p:nvSpPr>
        <p:spPr>
          <a:xfrm>
            <a:off x="640080" y="1371600"/>
            <a:ext cx="10972800" cy="5029200"/>
          </a:xfrm>
          <a:prstGeom prst="rect">
            <a:avLst/>
          </a:prstGeom>
          <a:noFill/>
        </p:spPr>
        <p:txBody>
          <a:bodyPr wrap="square">
            <a:spAutoFit/>
          </a:bodyPr>
          <a:lstStyle/>
          <a:p>
            <a:pPr>
              <a:spcBef>
                <a:spcPts val="1200"/>
              </a:spcBef>
              <a:defRPr sz="2200">
                <a:solidFill>
                  <a:srgbClr val="333333"/>
                </a:solidFill>
              </a:defRPr>
            </a:pPr>
          </a:p>
          <a:p>
            <a:pPr>
              <a:spcBef>
                <a:spcPts val="1200"/>
              </a:spcBef>
              <a:defRPr sz="2200">
                <a:solidFill>
                  <a:srgbClr val="333333"/>
                </a:solidFill>
              </a:defRPr>
            </a:pPr>
            <a:r>
              <a:t>若能竞聘成功，我将从以下三方面开展工作：</a:t>
            </a:r>
          </a:p>
          <a:p>
            <a:pPr>
              <a:spcBef>
                <a:spcPts val="1200"/>
              </a:spcBef>
              <a:defRPr sz="2200">
                <a:solidFill>
                  <a:srgbClr val="333333"/>
                </a:solidFill>
              </a:defRPr>
            </a:pPr>
          </a:p>
          <a:p>
            <a:pPr>
              <a:spcBef>
                <a:spcPts val="1200"/>
              </a:spcBef>
              <a:defRPr sz="2200">
                <a:solidFill>
                  <a:srgbClr val="333333"/>
                </a:solidFill>
              </a:defRPr>
            </a:pPr>
            <a:r>
              <a:t>一、构建专科化教学体系，凸显中医特色</a:t>
            </a:r>
          </a:p>
          <a:p>
            <a:pPr>
              <a:spcBef>
                <a:spcPts val="1200"/>
              </a:spcBef>
              <a:defRPr sz="2200">
                <a:solidFill>
                  <a:srgbClr val="333333"/>
                </a:solidFill>
              </a:defRPr>
            </a:pPr>
          </a:p>
          <a:p>
            <a:pPr>
              <a:spcBef>
                <a:spcPts val="1200"/>
              </a:spcBef>
              <a:defRPr sz="2200">
                <a:solidFill>
                  <a:srgbClr val="333333"/>
                </a:solidFill>
              </a:defRPr>
            </a:pPr>
            <a:r>
              <a:t>二、创新教学模式，强化临床思维培养</a:t>
            </a:r>
          </a:p>
          <a:p>
            <a:pPr>
              <a:spcBef>
                <a:spcPts val="1200"/>
              </a:spcBef>
              <a:defRPr sz="2200">
                <a:solidFill>
                  <a:srgbClr val="333333"/>
                </a:solidFill>
              </a:defRPr>
            </a:pPr>
          </a:p>
          <a:p>
            <a:pPr>
              <a:spcBef>
                <a:spcPts val="1200"/>
              </a:spcBef>
              <a:defRPr sz="2200">
                <a:solidFill>
                  <a:srgbClr val="333333"/>
                </a:solidFill>
              </a:defRPr>
            </a:pPr>
            <a:r>
              <a:t>三、严抓教学质量，落实分层培训</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731520"/>
          </a:xfrm>
          <a:prstGeom prst="rect">
            <a:avLst/>
          </a:prstGeom>
          <a:noFill/>
        </p:spPr>
        <p:txBody>
          <a:bodyPr wrap="none">
            <a:spAutoFit/>
          </a:bodyPr>
          <a:lstStyle/>
          <a:p>
            <a:pPr>
              <a:defRPr sz="3200" b="1">
                <a:solidFill>
                  <a:srgbClr val="FFFFFF"/>
                </a:solidFill>
              </a:defRPr>
            </a:pPr>
            <a:r>
              <a:t>工作规划一：构建专科化教学体系</a:t>
            </a:r>
          </a:p>
        </p:txBody>
      </p:sp>
      <p:sp>
        <p:nvSpPr>
          <p:cNvPr id="4" name="TextBox 3"/>
          <p:cNvSpPr txBox="1"/>
          <p:nvPr/>
        </p:nvSpPr>
        <p:spPr>
          <a:xfrm>
            <a:off x="640080" y="1371600"/>
            <a:ext cx="10972800" cy="5029200"/>
          </a:xfrm>
          <a:prstGeom prst="rect">
            <a:avLst/>
          </a:prstGeom>
          <a:noFill/>
        </p:spPr>
        <p:txBody>
          <a:bodyPr wrap="square">
            <a:spAutoFit/>
          </a:bodyPr>
          <a:lstStyle/>
          <a:p>
            <a:pPr>
              <a:spcBef>
                <a:spcPts val="1200"/>
              </a:spcBef>
              <a:defRPr sz="2200">
                <a:solidFill>
                  <a:srgbClr val="333333"/>
                </a:solidFill>
              </a:defRPr>
            </a:pPr>
            <a:r>
              <a:t>【目标】构建具有科室特色的中医护理教学体系</a:t>
            </a:r>
          </a:p>
          <a:p>
            <a:pPr>
              <a:spcBef>
                <a:spcPts val="1200"/>
              </a:spcBef>
              <a:defRPr sz="2200">
                <a:solidFill>
                  <a:srgbClr val="333333"/>
                </a:solidFill>
              </a:defRPr>
            </a:pPr>
          </a:p>
          <a:p>
            <a:pPr>
              <a:spcBef>
                <a:spcPts val="1200"/>
              </a:spcBef>
              <a:defRPr sz="2200">
                <a:solidFill>
                  <a:srgbClr val="333333"/>
                </a:solidFill>
              </a:defRPr>
            </a:pPr>
            <a:r>
              <a:t>【规范化培训】</a:t>
            </a:r>
          </a:p>
          <a:p>
            <a:pPr>
              <a:spcBef>
                <a:spcPts val="1200"/>
              </a:spcBef>
              <a:defRPr sz="2200">
                <a:solidFill>
                  <a:srgbClr val="333333"/>
                </a:solidFill>
              </a:defRPr>
            </a:pPr>
            <a:r>
              <a:t>深化中医外治法培训：耳穴压豆、铜砭刮痧、腹部推拿等</a:t>
            </a:r>
          </a:p>
          <a:p>
            <a:pPr>
              <a:spcBef>
                <a:spcPts val="1200"/>
              </a:spcBef>
              <a:defRPr sz="2200">
                <a:solidFill>
                  <a:srgbClr val="333333"/>
                </a:solidFill>
              </a:defRPr>
            </a:pPr>
          </a:p>
          <a:p>
            <a:pPr>
              <a:spcBef>
                <a:spcPts val="1200"/>
              </a:spcBef>
              <a:defRPr sz="2200">
                <a:solidFill>
                  <a:srgbClr val="333333"/>
                </a:solidFill>
              </a:defRPr>
            </a:pPr>
            <a:r>
              <a:t>【教材编写】</a:t>
            </a:r>
          </a:p>
          <a:p>
            <a:pPr>
              <a:spcBef>
                <a:spcPts val="1200"/>
              </a:spcBef>
              <a:defRPr sz="2200">
                <a:solidFill>
                  <a:srgbClr val="333333"/>
                </a:solidFill>
              </a:defRPr>
            </a:pPr>
            <a:r>
              <a:t>基于"肠-脑轴"研究基础，编写《脑病科睡眠医学中心临床护理路径教学手册》</a:t>
            </a:r>
          </a:p>
          <a:p>
            <a:pPr>
              <a:spcBef>
                <a:spcPts val="1200"/>
              </a:spcBef>
              <a:defRPr sz="2200">
                <a:solidFill>
                  <a:srgbClr val="333333"/>
                </a:solidFill>
              </a:defRPr>
            </a:pPr>
          </a:p>
          <a:p>
            <a:pPr>
              <a:spcBef>
                <a:spcPts val="1200"/>
              </a:spcBef>
              <a:defRPr sz="2200">
                <a:solidFill>
                  <a:srgbClr val="333333"/>
                </a:solidFill>
              </a:defRPr>
            </a:pPr>
            <a:r>
              <a:t>【核心能力培养】</a:t>
            </a:r>
          </a:p>
          <a:p>
            <a:pPr>
              <a:spcBef>
                <a:spcPts val="1200"/>
              </a:spcBef>
              <a:defRPr sz="2200">
                <a:solidFill>
                  <a:srgbClr val="333333"/>
                </a:solidFill>
              </a:defRPr>
            </a:pPr>
            <a:r>
              <a:t>提升护士对失眠、抑郁伴睡眠障碍患者的辨证施护能力</a:t>
            </a:r>
          </a:p>
          <a:p>
            <a:pPr>
              <a:spcBef>
                <a:spcPts val="1200"/>
              </a:spcBef>
              <a:defRPr sz="2200">
                <a:solidFill>
                  <a:srgbClr val="333333"/>
                </a:solidFill>
              </a:defRPr>
            </a:pPr>
          </a:p>
          <a:p>
            <a:pPr>
              <a:spcBef>
                <a:spcPts val="1200"/>
              </a:spcBef>
              <a:defRPr sz="2200">
                <a:solidFill>
                  <a:srgbClr val="333333"/>
                </a:solidFill>
              </a:defRPr>
            </a:pPr>
            <a:r>
              <a:t>【预期成果】完成3-5项中医外治法标准化操作培训，形成科室特色护理教学手册1本</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731520"/>
          </a:xfrm>
          <a:prstGeom prst="rect">
            <a:avLst/>
          </a:prstGeom>
          <a:noFill/>
        </p:spPr>
        <p:txBody>
          <a:bodyPr wrap="none">
            <a:spAutoFit/>
          </a:bodyPr>
          <a:lstStyle/>
          <a:p>
            <a:pPr>
              <a:defRPr sz="3200" b="1">
                <a:solidFill>
                  <a:srgbClr val="FFFFFF"/>
                </a:solidFill>
              </a:defRPr>
            </a:pPr>
            <a:r>
              <a:t>工作规划二：创新教学模式</a:t>
            </a:r>
          </a:p>
        </p:txBody>
      </p:sp>
      <p:sp>
        <p:nvSpPr>
          <p:cNvPr id="4" name="TextBox 3"/>
          <p:cNvSpPr txBox="1"/>
          <p:nvPr/>
        </p:nvSpPr>
        <p:spPr>
          <a:xfrm>
            <a:off x="640080" y="1371600"/>
            <a:ext cx="10972800" cy="5029200"/>
          </a:xfrm>
          <a:prstGeom prst="rect">
            <a:avLst/>
          </a:prstGeom>
          <a:noFill/>
        </p:spPr>
        <p:txBody>
          <a:bodyPr wrap="square">
            <a:spAutoFit/>
          </a:bodyPr>
          <a:lstStyle/>
          <a:p>
            <a:pPr>
              <a:spcBef>
                <a:spcPts val="1200"/>
              </a:spcBef>
              <a:defRPr sz="2200">
                <a:solidFill>
                  <a:srgbClr val="333333"/>
                </a:solidFill>
              </a:defRPr>
            </a:pPr>
            <a:r>
              <a:t>【目标】改变传统"填鸭式"教学，激发学习主动性</a:t>
            </a:r>
          </a:p>
          <a:p>
            <a:pPr>
              <a:spcBef>
                <a:spcPts val="1200"/>
              </a:spcBef>
              <a:defRPr sz="2200">
                <a:solidFill>
                  <a:srgbClr val="333333"/>
                </a:solidFill>
              </a:defRPr>
            </a:pPr>
          </a:p>
          <a:p>
            <a:pPr>
              <a:spcBef>
                <a:spcPts val="1200"/>
              </a:spcBef>
              <a:defRPr sz="2200">
                <a:solidFill>
                  <a:srgbClr val="333333"/>
                </a:solidFill>
              </a:defRPr>
            </a:pPr>
            <a:r>
              <a:t>【教学方法改革】</a:t>
            </a:r>
          </a:p>
          <a:p>
            <a:pPr>
              <a:spcBef>
                <a:spcPts val="1200"/>
              </a:spcBef>
              <a:defRPr sz="2200">
                <a:solidFill>
                  <a:srgbClr val="333333"/>
                </a:solidFill>
              </a:defRPr>
            </a:pPr>
            <a:r>
              <a:t>PBL教学法 -- 以问题为导向，培养临床思维能力</a:t>
            </a:r>
          </a:p>
          <a:p>
            <a:pPr>
              <a:spcBef>
                <a:spcPts val="1200"/>
              </a:spcBef>
              <a:defRPr sz="2200">
                <a:solidFill>
                  <a:srgbClr val="333333"/>
                </a:solidFill>
              </a:defRPr>
            </a:pPr>
            <a:r>
              <a:t>情景模拟教学 -- 模拟真实护理场景，提升应急处置能力</a:t>
            </a:r>
          </a:p>
          <a:p>
            <a:pPr>
              <a:spcBef>
                <a:spcPts val="1200"/>
              </a:spcBef>
              <a:defRPr sz="2200">
                <a:solidFill>
                  <a:srgbClr val="333333"/>
                </a:solidFill>
              </a:defRPr>
            </a:pPr>
            <a:r>
              <a:t>文献导读 -- 指导阅读高水平护理文献，提升循证护理意识</a:t>
            </a:r>
          </a:p>
          <a:p>
            <a:pPr>
              <a:spcBef>
                <a:spcPts val="1200"/>
              </a:spcBef>
              <a:defRPr sz="2200">
                <a:solidFill>
                  <a:srgbClr val="333333"/>
                </a:solidFill>
              </a:defRPr>
            </a:pPr>
            <a:r>
              <a:t>案例讨论 -- 结合真实病例深入分析，强化辨证施护思维</a:t>
            </a:r>
          </a:p>
          <a:p>
            <a:pPr>
              <a:spcBef>
                <a:spcPts val="1200"/>
              </a:spcBef>
              <a:defRPr sz="2200">
                <a:solidFill>
                  <a:srgbClr val="333333"/>
                </a:solidFill>
              </a:defRPr>
            </a:pPr>
          </a:p>
          <a:p>
            <a:pPr>
              <a:spcBef>
                <a:spcPts val="1200"/>
              </a:spcBef>
              <a:defRPr sz="2200">
                <a:solidFill>
                  <a:srgbClr val="333333"/>
                </a:solidFill>
              </a:defRPr>
            </a:pPr>
            <a:r>
              <a:t>【预期成果】</a:t>
            </a:r>
          </a:p>
          <a:p>
            <a:pPr>
              <a:spcBef>
                <a:spcPts val="1200"/>
              </a:spcBef>
              <a:defRPr sz="2200">
                <a:solidFill>
                  <a:srgbClr val="333333"/>
                </a:solidFill>
              </a:defRPr>
            </a:pPr>
            <a:r>
              <a:t>每季度开展PBL教学活动1次</a:t>
            </a:r>
          </a:p>
          <a:p>
            <a:pPr>
              <a:spcBef>
                <a:spcPts val="1200"/>
              </a:spcBef>
              <a:defRPr sz="2200">
                <a:solidFill>
                  <a:srgbClr val="333333"/>
                </a:solidFill>
              </a:defRPr>
            </a:pPr>
            <a:r>
              <a:t>每月组织文献导读学习1次</a:t>
            </a:r>
          </a:p>
          <a:p>
            <a:pPr>
              <a:spcBef>
                <a:spcPts val="1200"/>
              </a:spcBef>
              <a:defRPr sz="2200">
                <a:solidFill>
                  <a:srgbClr val="333333"/>
                </a:solidFill>
              </a:defRPr>
            </a:pPr>
            <a:r>
              <a:t>建立科室护理教学案例库</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731520"/>
          </a:xfrm>
          <a:prstGeom prst="rect">
            <a:avLst/>
          </a:prstGeom>
          <a:noFill/>
        </p:spPr>
        <p:txBody>
          <a:bodyPr wrap="none">
            <a:spAutoFit/>
          </a:bodyPr>
          <a:lstStyle/>
          <a:p>
            <a:pPr>
              <a:defRPr sz="3200" b="1">
                <a:solidFill>
                  <a:srgbClr val="FFFFFF"/>
                </a:solidFill>
              </a:defRPr>
            </a:pPr>
            <a:r>
              <a:t>工作规划三：分层培训方案</a:t>
            </a:r>
          </a:p>
        </p:txBody>
      </p:sp>
      <p:sp>
        <p:nvSpPr>
          <p:cNvPr id="4" name="TextBox 3"/>
          <p:cNvSpPr txBox="1"/>
          <p:nvPr/>
        </p:nvSpPr>
        <p:spPr>
          <a:xfrm>
            <a:off x="640080" y="1371600"/>
            <a:ext cx="10972800" cy="5029200"/>
          </a:xfrm>
          <a:prstGeom prst="rect">
            <a:avLst/>
          </a:prstGeom>
          <a:noFill/>
        </p:spPr>
        <p:txBody>
          <a:bodyPr wrap="square">
            <a:spAutoFit/>
          </a:bodyPr>
          <a:lstStyle/>
          <a:p>
            <a:pPr>
              <a:spcBef>
                <a:spcPts val="1200"/>
              </a:spcBef>
              <a:defRPr sz="2200">
                <a:solidFill>
                  <a:srgbClr val="333333"/>
                </a:solidFill>
              </a:defRPr>
            </a:pPr>
            <a:r>
              <a:t>【目标】根据不同层级护士需求，制定个性化带教计划</a:t>
            </a:r>
          </a:p>
          <a:p>
            <a:pPr>
              <a:spcBef>
                <a:spcPts val="1200"/>
              </a:spcBef>
              <a:defRPr sz="2200">
                <a:solidFill>
                  <a:srgbClr val="333333"/>
                </a:solidFill>
              </a:defRPr>
            </a:pPr>
          </a:p>
          <a:p>
            <a:pPr>
              <a:spcBef>
                <a:spcPts val="1200"/>
              </a:spcBef>
              <a:defRPr sz="2200">
                <a:solidFill>
                  <a:srgbClr val="333333"/>
                </a:solidFill>
              </a:defRPr>
            </a:pPr>
            <a:r>
              <a:t>N0级（实习生）-- 规范基础与安全意识</a:t>
            </a:r>
          </a:p>
          <a:p>
            <a:pPr>
              <a:spcBef>
                <a:spcPts val="1200"/>
              </a:spcBef>
              <a:defRPr sz="2200">
                <a:solidFill>
                  <a:srgbClr val="333333"/>
                </a:solidFill>
              </a:defRPr>
            </a:pPr>
            <a:r>
              <a:t>N1级（新入职）-- 专科基础与核心技能</a:t>
            </a:r>
          </a:p>
          <a:p>
            <a:pPr>
              <a:spcBef>
                <a:spcPts val="1200"/>
              </a:spcBef>
              <a:defRPr sz="2200">
                <a:solidFill>
                  <a:srgbClr val="333333"/>
                </a:solidFill>
              </a:defRPr>
            </a:pPr>
            <a:r>
              <a:t>N2级（初级）-- 急救技能与专科操作</a:t>
            </a:r>
          </a:p>
          <a:p>
            <a:pPr>
              <a:spcBef>
                <a:spcPts val="1200"/>
              </a:spcBef>
              <a:defRPr sz="2200">
                <a:solidFill>
                  <a:srgbClr val="333333"/>
                </a:solidFill>
              </a:defRPr>
            </a:pPr>
            <a:r>
              <a:t>N3级（中级）-- 教学能力与科研启蒙</a:t>
            </a:r>
          </a:p>
          <a:p>
            <a:pPr>
              <a:spcBef>
                <a:spcPts val="1200"/>
              </a:spcBef>
              <a:defRPr sz="2200">
                <a:solidFill>
                  <a:srgbClr val="333333"/>
                </a:solidFill>
              </a:defRPr>
            </a:pPr>
            <a:r>
              <a:t>N4级（高级）-- 教学能力与科研指导</a:t>
            </a:r>
          </a:p>
          <a:p>
            <a:pPr>
              <a:spcBef>
                <a:spcPts val="1200"/>
              </a:spcBef>
              <a:defRPr sz="2200">
                <a:solidFill>
                  <a:srgbClr val="333333"/>
                </a:solidFill>
              </a:defRPr>
            </a:pPr>
          </a:p>
          <a:p>
            <a:pPr>
              <a:spcBef>
                <a:spcPts val="1200"/>
              </a:spcBef>
              <a:defRPr sz="2200">
                <a:solidFill>
                  <a:srgbClr val="333333"/>
                </a:solidFill>
              </a:defRPr>
            </a:pPr>
            <a:r>
              <a:t>【质量监控】建立带教档案 | 定期考核评估 | 反馈改进机制</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731520"/>
          </a:xfrm>
          <a:prstGeom prst="rect">
            <a:avLst/>
          </a:prstGeom>
          <a:noFill/>
        </p:spPr>
        <p:txBody>
          <a:bodyPr wrap="none">
            <a:spAutoFit/>
          </a:bodyPr>
          <a:lstStyle/>
          <a:p>
            <a:pPr>
              <a:defRPr sz="3200" b="1">
                <a:solidFill>
                  <a:srgbClr val="FFFFFF"/>
                </a:solidFill>
              </a:defRPr>
            </a:pPr>
            <a:r>
              <a:t>2026年度教学工作安排</a:t>
            </a:r>
          </a:p>
        </p:txBody>
      </p:sp>
      <p:sp>
        <p:nvSpPr>
          <p:cNvPr id="4" name="TextBox 3"/>
          <p:cNvSpPr txBox="1"/>
          <p:nvPr/>
        </p:nvSpPr>
        <p:spPr>
          <a:xfrm>
            <a:off x="640080" y="1371600"/>
            <a:ext cx="10972800" cy="5029200"/>
          </a:xfrm>
          <a:prstGeom prst="rect">
            <a:avLst/>
          </a:prstGeom>
          <a:noFill/>
        </p:spPr>
        <p:txBody>
          <a:bodyPr wrap="square">
            <a:spAutoFit/>
          </a:bodyPr>
          <a:lstStyle/>
          <a:p>
            <a:pPr>
              <a:spcBef>
                <a:spcPts val="1200"/>
              </a:spcBef>
              <a:defRPr sz="2200">
                <a:solidFill>
                  <a:srgbClr val="333333"/>
                </a:solidFill>
              </a:defRPr>
            </a:pPr>
            <a:r>
              <a:t>【Q1（1-3月）】</a:t>
            </a:r>
          </a:p>
          <a:p>
            <a:pPr>
              <a:spcBef>
                <a:spcPts val="1200"/>
              </a:spcBef>
              <a:defRPr sz="2200">
                <a:solidFill>
                  <a:srgbClr val="333333"/>
                </a:solidFill>
              </a:defRPr>
            </a:pPr>
            <a:r>
              <a:t>年度培训需求调研、分层培训计划制定、教学手册编写启动</a:t>
            </a:r>
          </a:p>
          <a:p>
            <a:pPr>
              <a:spcBef>
                <a:spcPts val="1200"/>
              </a:spcBef>
              <a:defRPr sz="2200">
                <a:solidFill>
                  <a:srgbClr val="333333"/>
                </a:solidFill>
              </a:defRPr>
            </a:pPr>
          </a:p>
          <a:p>
            <a:pPr>
              <a:spcBef>
                <a:spcPts val="1200"/>
              </a:spcBef>
              <a:defRPr sz="2200">
                <a:solidFill>
                  <a:srgbClr val="333333"/>
                </a:solidFill>
              </a:defRPr>
            </a:pPr>
            <a:r>
              <a:t>【Q2（4-6月）】</a:t>
            </a:r>
          </a:p>
          <a:p>
            <a:pPr>
              <a:spcBef>
                <a:spcPts val="1200"/>
              </a:spcBef>
              <a:defRPr sz="2200">
                <a:solidFill>
                  <a:srgbClr val="333333"/>
                </a:solidFill>
              </a:defRPr>
            </a:pPr>
            <a:r>
              <a:t>中医外治法规范化培训、PBL教学试点、新护士岗前培训</a:t>
            </a:r>
          </a:p>
          <a:p>
            <a:pPr>
              <a:spcBef>
                <a:spcPts val="1200"/>
              </a:spcBef>
              <a:defRPr sz="2200">
                <a:solidFill>
                  <a:srgbClr val="333333"/>
                </a:solidFill>
              </a:defRPr>
            </a:pPr>
          </a:p>
          <a:p>
            <a:pPr>
              <a:spcBef>
                <a:spcPts val="1200"/>
              </a:spcBef>
              <a:defRPr sz="2200">
                <a:solidFill>
                  <a:srgbClr val="333333"/>
                </a:solidFill>
              </a:defRPr>
            </a:pPr>
            <a:r>
              <a:t>【Q3（7-9月）】</a:t>
            </a:r>
          </a:p>
          <a:p>
            <a:pPr>
              <a:spcBef>
                <a:spcPts val="1200"/>
              </a:spcBef>
              <a:defRPr sz="2200">
                <a:solidFill>
                  <a:srgbClr val="333333"/>
                </a:solidFill>
              </a:defRPr>
            </a:pPr>
            <a:r>
              <a:t>情景模拟教学、科研方法培训、实习生带教质量督导</a:t>
            </a:r>
          </a:p>
          <a:p>
            <a:pPr>
              <a:spcBef>
                <a:spcPts val="1200"/>
              </a:spcBef>
              <a:defRPr sz="2200">
                <a:solidFill>
                  <a:srgbClr val="333333"/>
                </a:solidFill>
              </a:defRPr>
            </a:pPr>
          </a:p>
          <a:p>
            <a:pPr>
              <a:spcBef>
                <a:spcPts val="1200"/>
              </a:spcBef>
              <a:defRPr sz="2200">
                <a:solidFill>
                  <a:srgbClr val="333333"/>
                </a:solidFill>
              </a:defRPr>
            </a:pPr>
            <a:r>
              <a:t>【Q4（10-12月）】</a:t>
            </a:r>
          </a:p>
          <a:p>
            <a:pPr>
              <a:spcBef>
                <a:spcPts val="1200"/>
              </a:spcBef>
              <a:defRPr sz="2200">
                <a:solidFill>
                  <a:srgbClr val="333333"/>
                </a:solidFill>
              </a:defRPr>
            </a:pPr>
            <a:r>
              <a:t>年度考核、教学成果总结、下年度计划制定</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0"/>
            <a:ext cx="11277295" cy="1371600"/>
          </a:xfrm>
          <a:prstGeom prst="rect">
            <a:avLst/>
          </a:prstGeom>
          <a:noFill/>
        </p:spPr>
        <p:txBody>
          <a:bodyPr wrap="none">
            <a:spAutoFit/>
          </a:bodyPr>
          <a:lstStyle/>
          <a:p>
            <a:pPr algn="ctr">
              <a:defRPr sz="4400" b="1">
                <a:solidFill>
                  <a:srgbClr val="006699"/>
                </a:solidFill>
              </a:defRPr>
            </a:pPr>
            <a:r>
              <a:t>总结</a:t>
            </a:r>
          </a:p>
        </p:txBody>
      </p:sp>
      <p:sp>
        <p:nvSpPr>
          <p:cNvPr id="3" name="TextBox 2"/>
          <p:cNvSpPr txBox="1"/>
          <p:nvPr/>
        </p:nvSpPr>
        <p:spPr>
          <a:xfrm>
            <a:off x="914400" y="1828800"/>
            <a:ext cx="10362895" cy="4114800"/>
          </a:xfrm>
          <a:prstGeom prst="rect">
            <a:avLst/>
          </a:prstGeom>
          <a:noFill/>
        </p:spPr>
        <p:txBody>
          <a:bodyPr wrap="square">
            <a:spAutoFit/>
          </a:bodyPr>
          <a:lstStyle/>
          <a:p>
            <a:pPr algn="ctr">
              <a:defRPr sz="2400">
                <a:solidFill>
                  <a:srgbClr val="333333"/>
                </a:solidFill>
              </a:defRPr>
            </a:pPr>
            <a:r>
              <a:t>教育护士是连接临床护理与教学科研的纽带。</a:t>
            </a:r>
          </a:p>
          <a:p>
            <a:pPr>
              <a:defRPr sz="1600"/>
            </a:pPr>
          </a:p>
          <a:p>
            <a:pPr algn="ctr">
              <a:defRPr sz="2400">
                <a:solidFill>
                  <a:srgbClr val="333333"/>
                </a:solidFill>
              </a:defRPr>
            </a:pPr>
            <a:r>
              <a:t>我愿以扎实的学术功底、丰富的带教经验、创新的教学理念，</a:t>
            </a:r>
          </a:p>
          <a:p>
            <a:pPr algn="ctr">
              <a:defRPr sz="2400">
                <a:solidFill>
                  <a:srgbClr val="333333"/>
                </a:solidFill>
              </a:defRPr>
            </a:pPr>
            <a:r>
              <a:t>助力科室护理人才梯队建设，推动护理教学质量全面提升！</a:t>
            </a:r>
          </a:p>
          <a:p>
            <a:pPr>
              <a:defRPr sz="2400"/>
            </a:pPr>
          </a:p>
          <a:p>
            <a:pPr algn="ctr">
              <a:defRPr sz="2600" b="1">
                <a:solidFill>
                  <a:srgbClr val="008060"/>
                </a:solidFill>
              </a:defRPr>
            </a:pPr>
            <a:r>
              <a:t>立足专科 | 以教促学 | 以研促教 | 服务团队</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0"/>
            <a:ext cx="11277295" cy="1371600"/>
          </a:xfrm>
          <a:prstGeom prst="rect">
            <a:avLst/>
          </a:prstGeom>
          <a:noFill/>
        </p:spPr>
        <p:txBody>
          <a:bodyPr wrap="none">
            <a:spAutoFit/>
          </a:bodyPr>
          <a:lstStyle/>
          <a:p>
            <a:pPr algn="ctr">
              <a:defRPr sz="4400" b="1">
                <a:solidFill>
                  <a:srgbClr val="006699"/>
                </a:solidFill>
              </a:defRPr>
            </a:pPr>
            <a:r>
              <a:t>感谢各位评委的聆听！</a:t>
            </a:r>
          </a:p>
        </p:txBody>
      </p:sp>
      <p:sp>
        <p:nvSpPr>
          <p:cNvPr id="3" name="TextBox 2"/>
          <p:cNvSpPr txBox="1"/>
          <p:nvPr/>
        </p:nvSpPr>
        <p:spPr>
          <a:xfrm>
            <a:off x="457200" y="3840480"/>
            <a:ext cx="11277295" cy="731520"/>
          </a:xfrm>
          <a:prstGeom prst="rect">
            <a:avLst/>
          </a:prstGeom>
          <a:noFill/>
        </p:spPr>
        <p:txBody>
          <a:bodyPr wrap="none">
            <a:spAutoFit/>
          </a:bodyPr>
          <a:lstStyle/>
          <a:p>
            <a:pPr algn="ctr">
              <a:defRPr sz="2800">
                <a:solidFill>
                  <a:srgbClr val="008060"/>
                </a:solidFill>
              </a:defRPr>
            </a:pPr>
            <a:r>
              <a:t>恳请各位领导、评委批评指正！</a:t>
            </a:r>
          </a:p>
        </p:txBody>
      </p:sp>
      <p:sp>
        <p:nvSpPr>
          <p:cNvPr id="4" name="TextBox 3"/>
          <p:cNvSpPr txBox="1"/>
          <p:nvPr/>
        </p:nvSpPr>
        <p:spPr>
          <a:xfrm>
            <a:off x="457200" y="5029200"/>
            <a:ext cx="11277295" cy="914400"/>
          </a:xfrm>
          <a:prstGeom prst="rect">
            <a:avLst/>
          </a:prstGeom>
          <a:noFill/>
        </p:spPr>
        <p:txBody>
          <a:bodyPr wrap="none">
            <a:spAutoFit/>
          </a:bodyPr>
          <a:lstStyle/>
          <a:p>
            <a:pPr algn="ctr">
              <a:defRPr sz="2000">
                <a:solidFill>
                  <a:srgbClr val="333333"/>
                </a:solidFill>
              </a:defRPr>
            </a:pPr>
            <a:r>
              <a:t>竞聘人：徐哲 | 脑病科睡眠医学中心 | 2026年1月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